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305" r:id="rId5"/>
    <p:sldId id="454" r:id="rId6"/>
    <p:sldId id="447" r:id="rId7"/>
    <p:sldId id="460" r:id="rId8"/>
    <p:sldId id="458" r:id="rId9"/>
    <p:sldId id="459" r:id="rId10"/>
    <p:sldId id="455" r:id="rId11"/>
    <p:sldId id="457" r:id="rId12"/>
    <p:sldId id="456" r:id="rId13"/>
    <p:sldId id="445" r:id="rId14"/>
    <p:sldId id="448" r:id="rId15"/>
    <p:sldId id="450" r:id="rId16"/>
    <p:sldId id="45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61FF"/>
    <a:srgbClr val="0152EB"/>
    <a:srgbClr val="047033"/>
    <a:srgbClr val="D0E7FE"/>
    <a:srgbClr val="FE4A00"/>
    <a:srgbClr val="0A2E73"/>
    <a:srgbClr val="FBE6CF"/>
    <a:srgbClr val="FDAC50"/>
    <a:srgbClr val="D9EFFE"/>
    <a:srgbClr val="FEF3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97"/>
    <p:restoredTop sz="97656"/>
  </p:normalViewPr>
  <p:slideViewPr>
    <p:cSldViewPr snapToGrid="0">
      <p:cViewPr varScale="1">
        <p:scale>
          <a:sx n="183" d="100"/>
          <a:sy n="183" d="100"/>
        </p:scale>
        <p:origin x="8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CF87A-9E94-3B4E-8CCB-AAE0E50A5C37}"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04C80A-D1AF-3742-88A2-7ECC3E7BF75D}" type="slidenum">
              <a:rPr lang="en-US" smtClean="0"/>
              <a:t>‹#›</a:t>
            </a:fld>
            <a:endParaRPr lang="en-US"/>
          </a:p>
        </p:txBody>
      </p:sp>
    </p:spTree>
    <p:extLst>
      <p:ext uri="{BB962C8B-B14F-4D97-AF65-F5344CB8AC3E}">
        <p14:creationId xmlns:p14="http://schemas.microsoft.com/office/powerpoint/2010/main" val="2619661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aseline="0" dirty="0"/>
              <a:t>Hello and welcome to this session on semi-headless agent harnesses.   With the release of agent harness support from major vendors like Open AI and Claude Code plus open source projects like Open Hands, the shift to agent harnesses and away from hard-coded agent orchestration state graphs </a:t>
            </a:r>
            <a:r>
              <a:rPr lang="en-US" sz="1800" baseline="0"/>
              <a:t>is well underway.</a:t>
            </a:r>
            <a:endParaRPr lang="en-US" sz="1800" baseline="0" dirty="0"/>
          </a:p>
        </p:txBody>
      </p:sp>
      <p:sp>
        <p:nvSpPr>
          <p:cNvPr id="4" name="Slide Number Placeholder 3"/>
          <p:cNvSpPr>
            <a:spLocks noGrp="1"/>
          </p:cNvSpPr>
          <p:nvPr>
            <p:ph type="sldNum" sz="quarter" idx="5"/>
          </p:nvPr>
        </p:nvSpPr>
        <p:spPr/>
        <p:txBody>
          <a:bodyPr/>
          <a:lstStyle/>
          <a:p>
            <a:fld id="{22876BBC-D6EC-AC44-BEF9-7492E51289B6}" type="slidenum">
              <a:rPr lang="en-US" smtClean="0"/>
              <a:t>1</a:t>
            </a:fld>
            <a:endParaRPr lang="en-US"/>
          </a:p>
        </p:txBody>
      </p:sp>
    </p:spTree>
    <p:extLst>
      <p:ext uri="{BB962C8B-B14F-4D97-AF65-F5344CB8AC3E}">
        <p14:creationId xmlns:p14="http://schemas.microsoft.com/office/powerpoint/2010/main" val="1832588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C89D9-7B5B-9648-A91A-09259A17D5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58E7F1-0A33-238F-CFCC-93E2BB6B0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4580D2-7524-B043-0547-411447234442}"/>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5" name="Footer Placeholder 4">
            <a:extLst>
              <a:ext uri="{FF2B5EF4-FFF2-40B4-BE49-F238E27FC236}">
                <a16:creationId xmlns:a16="http://schemas.microsoft.com/office/drawing/2014/main" id="{0677CB48-E979-CFBF-AE4A-EF2AE265CF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1904C8-9706-3BD2-0D8F-2103B6454102}"/>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1346957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D9528-19CD-024A-D005-8DAD5EAB38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BE1DA7-0518-6883-40D8-B96263CF81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5D2A1C-9275-AC65-6CA8-5338B5C7E28A}"/>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5" name="Footer Placeholder 4">
            <a:extLst>
              <a:ext uri="{FF2B5EF4-FFF2-40B4-BE49-F238E27FC236}">
                <a16:creationId xmlns:a16="http://schemas.microsoft.com/office/drawing/2014/main" id="{6BF26C72-BC70-6FA0-69B7-D6FCF506F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A407DF-CE84-AED8-9BDF-F45A100B8229}"/>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3518822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9142-98E7-8C37-CC7E-46B1CF4E95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9D3EBF-02C7-78EE-DABE-9AFE71CDDD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D9242D-D87C-53F5-6AEA-073DE8A27ACA}"/>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5" name="Footer Placeholder 4">
            <a:extLst>
              <a:ext uri="{FF2B5EF4-FFF2-40B4-BE49-F238E27FC236}">
                <a16:creationId xmlns:a16="http://schemas.microsoft.com/office/drawing/2014/main" id="{81DE9618-4255-8A2B-8082-48E14EE5BA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389B94-7319-D124-7656-7FC21729ED6C}"/>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2456449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19602-94BA-A500-94F8-EDC91EADF5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A1E30F-D942-1DE4-C482-FDADAF3CFC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83FD5E-6858-CFAC-9132-848FF321D4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972E14-8786-8F7D-B762-3E6898131D11}"/>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6" name="Footer Placeholder 5">
            <a:extLst>
              <a:ext uri="{FF2B5EF4-FFF2-40B4-BE49-F238E27FC236}">
                <a16:creationId xmlns:a16="http://schemas.microsoft.com/office/drawing/2014/main" id="{6C263C70-10E7-93E7-F3BA-843A38816B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936FA1-1C7B-245F-792E-7CA6F909566C}"/>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4085190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6D6E-CA18-592F-3FB3-D8CC1887AC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27404C-5870-0140-55FD-407DEC59B9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577E58-EF1E-5E17-F34D-26A1A426F1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D20B5F-C6C0-7250-A9C6-A81E72887C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A0407C-99BD-14E1-C704-4353C49287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F07797-11B5-764F-16B7-8C033DB798DE}"/>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8" name="Footer Placeholder 7">
            <a:extLst>
              <a:ext uri="{FF2B5EF4-FFF2-40B4-BE49-F238E27FC236}">
                <a16:creationId xmlns:a16="http://schemas.microsoft.com/office/drawing/2014/main" id="{3A9548B4-1767-36FB-EDAE-2EF9745A5CD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76891F-0F5F-CEE6-B45B-E54867202185}"/>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4020846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2E92-E8E1-A508-270D-45588D0478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0E5574-635A-45CA-C9FE-21D404D5E318}"/>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4" name="Footer Placeholder 3">
            <a:extLst>
              <a:ext uri="{FF2B5EF4-FFF2-40B4-BE49-F238E27FC236}">
                <a16:creationId xmlns:a16="http://schemas.microsoft.com/office/drawing/2014/main" id="{9B5CBC02-B7A7-514B-64DA-EEEA8CD594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F61DD0-9590-4013-03E1-3528A2D92E86}"/>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2233230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CB7AD2-0ECA-0CD2-FF88-A1C90303A2AF}"/>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3" name="Footer Placeholder 2">
            <a:extLst>
              <a:ext uri="{FF2B5EF4-FFF2-40B4-BE49-F238E27FC236}">
                <a16:creationId xmlns:a16="http://schemas.microsoft.com/office/drawing/2014/main" id="{A3ADC52E-A781-62F1-ECC2-74397E2955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FA83EE-BE0F-F59A-39B8-1C6DA1CC4C87}"/>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547684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9E1B0-C196-A841-AB9F-784EA5DBC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F069FF-C414-3B2D-2269-709336651C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7D46B6-DA3D-78CF-62ED-04FDF44AA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4510B5-781C-DC12-6306-0EB3D59C1C10}"/>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6" name="Footer Placeholder 5">
            <a:extLst>
              <a:ext uri="{FF2B5EF4-FFF2-40B4-BE49-F238E27FC236}">
                <a16:creationId xmlns:a16="http://schemas.microsoft.com/office/drawing/2014/main" id="{A64F123F-F73A-8D27-702C-04040A074D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9183D2-ED60-E1D0-14C5-5A80396257DA}"/>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92571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B5E6-7141-6EAA-B207-96D7FBF15E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D4D1A6-A6A5-13C8-6F97-2032A514DE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14CA8C-72A7-13FD-5FB3-B6C82D28A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DCEADB-104C-3C27-483F-2B48DE346660}"/>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6" name="Footer Placeholder 5">
            <a:extLst>
              <a:ext uri="{FF2B5EF4-FFF2-40B4-BE49-F238E27FC236}">
                <a16:creationId xmlns:a16="http://schemas.microsoft.com/office/drawing/2014/main" id="{1DA16443-C23D-7070-9AFC-271662E5BF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623FFF-B9B7-E63E-3F53-8FCFBC8BC4D8}"/>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3432025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92A1-5D78-70D6-8C16-657C55938C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593098-230A-12B4-0E09-69B6AFFA36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D0B641-8B95-90CE-3512-B09C14A69A08}"/>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5" name="Footer Placeholder 4">
            <a:extLst>
              <a:ext uri="{FF2B5EF4-FFF2-40B4-BE49-F238E27FC236}">
                <a16:creationId xmlns:a16="http://schemas.microsoft.com/office/drawing/2014/main" id="{0850E273-F3A1-699D-1107-42B01C911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20289-6145-FD81-2D71-737F3C737818}"/>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1950554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96710D-E876-B20C-D76E-1EE8E57E37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84FFD6-57AB-9262-93C5-3C614A33EE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200568-9861-7EF5-6B67-F8A3F73661AE}"/>
              </a:ext>
            </a:extLst>
          </p:cNvPr>
          <p:cNvSpPr>
            <a:spLocks noGrp="1"/>
          </p:cNvSpPr>
          <p:nvPr>
            <p:ph type="dt" sz="half" idx="10"/>
          </p:nvPr>
        </p:nvSpPr>
        <p:spPr/>
        <p:txBody>
          <a:bodyPr/>
          <a:lstStyle/>
          <a:p>
            <a:fld id="{CEE78498-0A58-6548-945B-5C99B0C09DC2}" type="datetimeFigureOut">
              <a:rPr lang="en-US" smtClean="0"/>
              <a:t>10/21/26</a:t>
            </a:fld>
            <a:endParaRPr lang="en-US"/>
          </a:p>
        </p:txBody>
      </p:sp>
      <p:sp>
        <p:nvSpPr>
          <p:cNvPr id="5" name="Footer Placeholder 4">
            <a:extLst>
              <a:ext uri="{FF2B5EF4-FFF2-40B4-BE49-F238E27FC236}">
                <a16:creationId xmlns:a16="http://schemas.microsoft.com/office/drawing/2014/main" id="{0E5869D3-7335-80AA-5446-5AFDDF535C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D9E8D-9B2C-EB05-67B5-D23463279A09}"/>
              </a:ext>
            </a:extLst>
          </p:cNvPr>
          <p:cNvSpPr>
            <a:spLocks noGrp="1"/>
          </p:cNvSpPr>
          <p:nvPr>
            <p:ph type="sldNum" sz="quarter" idx="12"/>
          </p:nvPr>
        </p:nvSpPr>
        <p:spPr/>
        <p:txBody>
          <a:bodyPr/>
          <a:lstStyle/>
          <a:p>
            <a:fld id="{A87683F4-A720-8146-B113-E8C9590BD86A}" type="slidenum">
              <a:rPr lang="en-US" smtClean="0"/>
              <a:t>‹#›</a:t>
            </a:fld>
            <a:endParaRPr lang="en-US"/>
          </a:p>
        </p:txBody>
      </p:sp>
    </p:spTree>
    <p:extLst>
      <p:ext uri="{BB962C8B-B14F-4D97-AF65-F5344CB8AC3E}">
        <p14:creationId xmlns:p14="http://schemas.microsoft.com/office/powerpoint/2010/main" val="10260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6A6931-DD28-AFAD-22E8-8F4A71529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4FC529-A67C-AE6C-4784-D6F3983C40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72DC21-A0C1-61B5-CF30-D29D331FC1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E78498-0A58-6548-945B-5C99B0C09DC2}" type="datetimeFigureOut">
              <a:rPr lang="en-US" smtClean="0"/>
              <a:t>10/21/26</a:t>
            </a:fld>
            <a:endParaRPr lang="en-US"/>
          </a:p>
        </p:txBody>
      </p:sp>
      <p:sp>
        <p:nvSpPr>
          <p:cNvPr id="5" name="Footer Placeholder 4">
            <a:extLst>
              <a:ext uri="{FF2B5EF4-FFF2-40B4-BE49-F238E27FC236}">
                <a16:creationId xmlns:a16="http://schemas.microsoft.com/office/drawing/2014/main" id="{62594B44-215B-529B-5981-21994B190D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E622CE-6C63-7F81-D33F-F9C092F351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7683F4-A720-8146-B113-E8C9590BD86A}" type="slidenum">
              <a:rPr lang="en-US" smtClean="0"/>
              <a:t>‹#›</a:t>
            </a:fld>
            <a:endParaRPr lang="en-US"/>
          </a:p>
        </p:txBody>
      </p:sp>
    </p:spTree>
    <p:extLst>
      <p:ext uri="{BB962C8B-B14F-4D97-AF65-F5344CB8AC3E}">
        <p14:creationId xmlns:p14="http://schemas.microsoft.com/office/powerpoint/2010/main" val="2501925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BB4B9-E0D7-0E8F-953A-11CE80F38D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B71757-F229-6703-22DE-BEB217D0F6DE}"/>
              </a:ext>
            </a:extLst>
          </p:cNvPr>
          <p:cNvSpPr txBox="1"/>
          <p:nvPr/>
        </p:nvSpPr>
        <p:spPr>
          <a:xfrm>
            <a:off x="254507" y="424265"/>
            <a:ext cx="5416719" cy="2062103"/>
          </a:xfrm>
          <a:prstGeom prst="rect">
            <a:avLst/>
          </a:prstGeom>
          <a:noFill/>
        </p:spPr>
        <p:txBody>
          <a:bodyPr wrap="square" lIns="91440" tIns="45720" rIns="91440" bIns="45720" rtlCol="0" anchor="t">
            <a:spAutoFit/>
          </a:bodyPr>
          <a:lstStyle/>
          <a:p>
            <a:r>
              <a:rPr lang="en-US" sz="3200" b="1" dirty="0"/>
              <a:t>Vertically-Integrated Robotics Manufacturing</a:t>
            </a:r>
          </a:p>
          <a:p>
            <a:r>
              <a:rPr lang="en-US" sz="3200" dirty="0"/>
              <a:t>Confluent Cloud Workshop on Google Cloud Platform</a:t>
            </a:r>
          </a:p>
        </p:txBody>
      </p:sp>
      <p:sp>
        <p:nvSpPr>
          <p:cNvPr id="5" name="TextBox 4">
            <a:extLst>
              <a:ext uri="{FF2B5EF4-FFF2-40B4-BE49-F238E27FC236}">
                <a16:creationId xmlns:a16="http://schemas.microsoft.com/office/drawing/2014/main" id="{0CB67CBC-9516-CC8A-892A-B44F8DD87B0E}"/>
              </a:ext>
            </a:extLst>
          </p:cNvPr>
          <p:cNvSpPr txBox="1"/>
          <p:nvPr/>
        </p:nvSpPr>
        <p:spPr>
          <a:xfrm>
            <a:off x="254507" y="5836439"/>
            <a:ext cx="2937980" cy="707886"/>
          </a:xfrm>
          <a:prstGeom prst="rect">
            <a:avLst/>
          </a:prstGeom>
          <a:noFill/>
        </p:spPr>
        <p:txBody>
          <a:bodyPr wrap="square" lIns="91440" tIns="45720" rIns="91440" bIns="45720" rtlCol="0" anchor="t">
            <a:spAutoFit/>
          </a:bodyPr>
          <a:lstStyle/>
          <a:p>
            <a:r>
              <a:rPr lang="en-US" sz="2000" dirty="0"/>
              <a:t>IBM </a:t>
            </a:r>
            <a:r>
              <a:rPr lang="en-US" sz="2000" b="1" dirty="0"/>
              <a:t>Build Engineering</a:t>
            </a:r>
          </a:p>
          <a:p>
            <a:r>
              <a:rPr lang="en-US" sz="2000" dirty="0">
                <a:latin typeface="Helvetica Neue UltraLight"/>
                <a:ea typeface="Helvetica Neue UltraLight" panose="02000206000000020004" pitchFamily="2" charset="0"/>
              </a:rPr>
              <a:t>December 2026</a:t>
            </a:r>
          </a:p>
        </p:txBody>
      </p:sp>
      <p:sp>
        <p:nvSpPr>
          <p:cNvPr id="15" name="TextBox 14">
            <a:extLst>
              <a:ext uri="{FF2B5EF4-FFF2-40B4-BE49-F238E27FC236}">
                <a16:creationId xmlns:a16="http://schemas.microsoft.com/office/drawing/2014/main" id="{AFB83652-2FE0-A886-BA5F-90DD0B34636A}"/>
              </a:ext>
            </a:extLst>
          </p:cNvPr>
          <p:cNvSpPr txBox="1"/>
          <p:nvPr/>
        </p:nvSpPr>
        <p:spPr>
          <a:xfrm>
            <a:off x="11819463" y="6544325"/>
            <a:ext cx="335348" cy="276999"/>
          </a:xfrm>
          <a:prstGeom prst="rect">
            <a:avLst/>
          </a:prstGeom>
          <a:noFill/>
        </p:spPr>
        <p:txBody>
          <a:bodyPr wrap="none" rtlCol="0">
            <a:spAutoFit/>
          </a:bodyPr>
          <a:lstStyle/>
          <a:p>
            <a:r>
              <a:rPr lang="en-US" sz="1200" dirty="0">
                <a:solidFill>
                  <a:schemeClr val="bg1"/>
                </a:solidFill>
              </a:rPr>
              <a:t>v2</a:t>
            </a:r>
          </a:p>
        </p:txBody>
      </p:sp>
      <p:pic>
        <p:nvPicPr>
          <p:cNvPr id="9" name="Picture 8">
            <a:extLst>
              <a:ext uri="{FF2B5EF4-FFF2-40B4-BE49-F238E27FC236}">
                <a16:creationId xmlns:a16="http://schemas.microsoft.com/office/drawing/2014/main" id="{A8B73593-77F6-03BC-5930-8B3C5762D979}"/>
              </a:ext>
            </a:extLst>
          </p:cNvPr>
          <p:cNvPicPr>
            <a:picLocks noChangeAspect="1"/>
          </p:cNvPicPr>
          <p:nvPr/>
        </p:nvPicPr>
        <p:blipFill>
          <a:blip r:embed="rId3"/>
          <a:stretch>
            <a:fillRect/>
          </a:stretch>
        </p:blipFill>
        <p:spPr>
          <a:xfrm>
            <a:off x="6140521" y="0"/>
            <a:ext cx="6051479" cy="6858000"/>
          </a:xfrm>
          <a:prstGeom prst="rect">
            <a:avLst/>
          </a:prstGeom>
        </p:spPr>
      </p:pic>
      <p:pic>
        <p:nvPicPr>
          <p:cNvPr id="10" name="Picture 9" descr="Google Cloud Logo, symbol, meaning, history, PNG, brand">
            <a:extLst>
              <a:ext uri="{FF2B5EF4-FFF2-40B4-BE49-F238E27FC236}">
                <a16:creationId xmlns:a16="http://schemas.microsoft.com/office/drawing/2014/main" id="{B6D8F004-F5D5-DE9E-2B04-D3C2535F8C8C}"/>
              </a:ext>
            </a:extLst>
          </p:cNvPr>
          <p:cNvPicPr>
            <a:picLocks noChangeAspect="1"/>
          </p:cNvPicPr>
          <p:nvPr/>
        </p:nvPicPr>
        <p:blipFill>
          <a:blip r:embed="rId4"/>
          <a:stretch>
            <a:fillRect/>
          </a:stretch>
        </p:blipFill>
        <p:spPr>
          <a:xfrm>
            <a:off x="3332939" y="3182844"/>
            <a:ext cx="2141033" cy="1204331"/>
          </a:xfrm>
          <a:prstGeom prst="rect">
            <a:avLst/>
          </a:prstGeom>
        </p:spPr>
      </p:pic>
      <p:pic>
        <p:nvPicPr>
          <p:cNvPr id="12" name="Picture 11" descr="Confluent Logo and symbol, meaning, history, PNG, brand">
            <a:extLst>
              <a:ext uri="{FF2B5EF4-FFF2-40B4-BE49-F238E27FC236}">
                <a16:creationId xmlns:a16="http://schemas.microsoft.com/office/drawing/2014/main" id="{0D454086-DB51-8868-9C6E-43A762AC2899}"/>
              </a:ext>
            </a:extLst>
          </p:cNvPr>
          <p:cNvPicPr>
            <a:picLocks noChangeAspect="1"/>
          </p:cNvPicPr>
          <p:nvPr/>
        </p:nvPicPr>
        <p:blipFill>
          <a:blip r:embed="rId5"/>
          <a:stretch>
            <a:fillRect/>
          </a:stretch>
        </p:blipFill>
        <p:spPr>
          <a:xfrm>
            <a:off x="680936" y="3182844"/>
            <a:ext cx="2333414" cy="1312545"/>
          </a:xfrm>
          <a:prstGeom prst="rect">
            <a:avLst/>
          </a:prstGeom>
        </p:spPr>
      </p:pic>
    </p:spTree>
    <p:extLst>
      <p:ext uri="{BB962C8B-B14F-4D97-AF65-F5344CB8AC3E}">
        <p14:creationId xmlns:p14="http://schemas.microsoft.com/office/powerpoint/2010/main" val="2830595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6FDA4-BA28-3987-8D6D-EFD87DAFC9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719180C-1EF9-3AB1-3673-1BD6E5160A73}"/>
              </a:ext>
            </a:extLst>
          </p:cNvPr>
          <p:cNvPicPr>
            <a:picLocks noChangeAspect="1"/>
          </p:cNvPicPr>
          <p:nvPr/>
        </p:nvPicPr>
        <p:blipFill>
          <a:blip r:embed="rId2"/>
          <a:stretch>
            <a:fillRect/>
          </a:stretch>
        </p:blipFill>
        <p:spPr>
          <a:xfrm>
            <a:off x="0" y="0"/>
            <a:ext cx="12192000" cy="6861645"/>
          </a:xfrm>
          <a:prstGeom prst="rect">
            <a:avLst/>
          </a:prstGeom>
        </p:spPr>
      </p:pic>
    </p:spTree>
    <p:extLst>
      <p:ext uri="{BB962C8B-B14F-4D97-AF65-F5344CB8AC3E}">
        <p14:creationId xmlns:p14="http://schemas.microsoft.com/office/powerpoint/2010/main" val="905427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5D84-D723-4066-312E-38868A8964A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06CFDB9-CD5B-D666-7015-5EC710AE287D}"/>
              </a:ext>
            </a:extLst>
          </p:cNvPr>
          <p:cNvPicPr>
            <a:picLocks noChangeAspect="1"/>
          </p:cNvPicPr>
          <p:nvPr/>
        </p:nvPicPr>
        <p:blipFill>
          <a:blip r:embed="rId2"/>
          <a:stretch>
            <a:fillRect/>
          </a:stretch>
        </p:blipFill>
        <p:spPr>
          <a:xfrm>
            <a:off x="-1" y="0"/>
            <a:ext cx="12185523" cy="6858000"/>
          </a:xfrm>
          <a:prstGeom prst="rect">
            <a:avLst/>
          </a:prstGeom>
        </p:spPr>
      </p:pic>
    </p:spTree>
    <p:extLst>
      <p:ext uri="{BB962C8B-B14F-4D97-AF65-F5344CB8AC3E}">
        <p14:creationId xmlns:p14="http://schemas.microsoft.com/office/powerpoint/2010/main" val="1276557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BB6B5-DE2B-EB23-5B07-98ACD0A0411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3DBCBEE-5B71-77D8-2686-F76D57546B42}"/>
              </a:ext>
            </a:extLst>
          </p:cNvPr>
          <p:cNvPicPr>
            <a:picLocks noChangeAspect="1"/>
          </p:cNvPicPr>
          <p:nvPr/>
        </p:nvPicPr>
        <p:blipFill>
          <a:blip r:embed="rId2"/>
          <a:stretch>
            <a:fillRect/>
          </a:stretch>
        </p:blipFill>
        <p:spPr>
          <a:xfrm>
            <a:off x="-1" y="0"/>
            <a:ext cx="12185523" cy="6858000"/>
          </a:xfrm>
          <a:prstGeom prst="rect">
            <a:avLst/>
          </a:prstGeom>
        </p:spPr>
      </p:pic>
    </p:spTree>
    <p:extLst>
      <p:ext uri="{BB962C8B-B14F-4D97-AF65-F5344CB8AC3E}">
        <p14:creationId xmlns:p14="http://schemas.microsoft.com/office/powerpoint/2010/main" val="2887415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10A7-CBDD-763A-A3B7-913C91DBEE1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BA3B1D6-5792-AEF4-7B05-98DA660E279A}"/>
              </a:ext>
            </a:extLst>
          </p:cNvPr>
          <p:cNvPicPr>
            <a:picLocks noChangeAspect="1"/>
          </p:cNvPicPr>
          <p:nvPr/>
        </p:nvPicPr>
        <p:blipFill>
          <a:blip r:embed="rId2"/>
          <a:stretch>
            <a:fillRect/>
          </a:stretch>
        </p:blipFill>
        <p:spPr>
          <a:xfrm>
            <a:off x="3238" y="0"/>
            <a:ext cx="12185523" cy="6858000"/>
          </a:xfrm>
          <a:prstGeom prst="rect">
            <a:avLst/>
          </a:prstGeom>
        </p:spPr>
      </p:pic>
    </p:spTree>
    <p:extLst>
      <p:ext uri="{BB962C8B-B14F-4D97-AF65-F5344CB8AC3E}">
        <p14:creationId xmlns:p14="http://schemas.microsoft.com/office/powerpoint/2010/main" val="285549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E4E3-1E67-A150-1F3F-3033B91D634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1701F3B-DC01-54EA-503D-7D47E6423137}"/>
              </a:ext>
            </a:extLst>
          </p:cNvPr>
          <p:cNvPicPr>
            <a:picLocks noChangeAspect="1"/>
          </p:cNvPicPr>
          <p:nvPr/>
        </p:nvPicPr>
        <p:blipFill>
          <a:blip r:embed="rId2"/>
          <a:stretch>
            <a:fillRect/>
          </a:stretch>
        </p:blipFill>
        <p:spPr>
          <a:xfrm>
            <a:off x="0" y="1822"/>
            <a:ext cx="12195244" cy="6856177"/>
          </a:xfrm>
          <a:prstGeom prst="rect">
            <a:avLst/>
          </a:prstGeom>
        </p:spPr>
      </p:pic>
    </p:spTree>
    <p:extLst>
      <p:ext uri="{BB962C8B-B14F-4D97-AF65-F5344CB8AC3E}">
        <p14:creationId xmlns:p14="http://schemas.microsoft.com/office/powerpoint/2010/main" val="294893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98D22-1C69-28D4-ED1F-B263030A63E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B5F1314-B7DD-E921-C032-8256839FE8A9}"/>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93867EED-A43F-5A18-A867-49F81CDE4313}"/>
              </a:ext>
            </a:extLst>
          </p:cNvPr>
          <p:cNvSpPr/>
          <p:nvPr/>
        </p:nvSpPr>
        <p:spPr>
          <a:xfrm>
            <a:off x="649153" y="3141069"/>
            <a:ext cx="8076037" cy="1563554"/>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538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3B010-725A-0E17-522C-2156656E702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13681EDA-8DDA-1817-CCDC-F4BDB5EFE230}"/>
              </a:ext>
            </a:extLst>
          </p:cNvPr>
          <p:cNvSpPr txBox="1"/>
          <p:nvPr/>
        </p:nvSpPr>
        <p:spPr>
          <a:xfrm>
            <a:off x="4730932" y="2721114"/>
            <a:ext cx="2369559" cy="707886"/>
          </a:xfrm>
          <a:prstGeom prst="rect">
            <a:avLst/>
          </a:prstGeom>
          <a:noFill/>
        </p:spPr>
        <p:txBody>
          <a:bodyPr wrap="none" rtlCol="0">
            <a:spAutoFit/>
          </a:bodyPr>
          <a:lstStyle/>
          <a:p>
            <a:r>
              <a:rPr lang="en-US" sz="4000" dirty="0">
                <a:solidFill>
                  <a:schemeClr val="accent4"/>
                </a:solidFill>
                <a:latin typeface="IBM Plex Sans" panose="020B0503050203000203" pitchFamily="34" charset="0"/>
              </a:rPr>
              <a:t>Appendix</a:t>
            </a:r>
          </a:p>
        </p:txBody>
      </p:sp>
    </p:spTree>
    <p:extLst>
      <p:ext uri="{BB962C8B-B14F-4D97-AF65-F5344CB8AC3E}">
        <p14:creationId xmlns:p14="http://schemas.microsoft.com/office/powerpoint/2010/main" val="3122616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5D84-D723-4066-312E-38868A8964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787481-E578-1916-628A-8F02F9E8BDD0}"/>
              </a:ext>
            </a:extLst>
          </p:cNvPr>
          <p:cNvSpPr txBox="1"/>
          <p:nvPr/>
        </p:nvSpPr>
        <p:spPr>
          <a:xfrm>
            <a:off x="225868" y="1072919"/>
            <a:ext cx="3898660" cy="4401205"/>
          </a:xfrm>
          <a:prstGeom prst="rect">
            <a:avLst/>
          </a:prstGeom>
          <a:noFill/>
        </p:spPr>
        <p:txBody>
          <a:bodyPr wrap="square" rtlCol="0">
            <a:spAutoFit/>
          </a:bodyPr>
          <a:lstStyle/>
          <a:p>
            <a:r>
              <a:rPr lang="en-US" sz="1400" b="1" dirty="0">
                <a:latin typeface="IBM Plex Sans" panose="020B0503050203000203" pitchFamily="34" charset="0"/>
              </a:rPr>
              <a:t>Step 1: Connect to Hive server to Confluent </a:t>
            </a:r>
          </a:p>
          <a:p>
            <a:r>
              <a:rPr lang="en-US" sz="1400" dirty="0">
                <a:latin typeface="IBM Plex Sans" panose="020B0503050203000203" pitchFamily="34" charset="0"/>
              </a:rPr>
              <a:t>Attendees provide confluent API keys to the Hive server can published Topics into their Confluent instance.  </a:t>
            </a:r>
            <a:endParaRPr lang="en-US" sz="1400" b="1" dirty="0">
              <a:latin typeface="IBM Plex Sans" panose="020B0503050203000203" pitchFamily="34" charset="0"/>
            </a:endParaRPr>
          </a:p>
          <a:p>
            <a:endParaRPr lang="en-US" sz="1400" b="1" dirty="0">
              <a:latin typeface="IBM Plex Sans" panose="020B0503050203000203" pitchFamily="34" charset="0"/>
            </a:endParaRPr>
          </a:p>
          <a:p>
            <a:r>
              <a:rPr lang="en-US" sz="1400" dirty="0">
                <a:latin typeface="IBM Plex Sans" panose="020B0503050203000203" pitchFamily="34" charset="0"/>
              </a:rPr>
              <a:t>Example Topics:</a:t>
            </a:r>
          </a:p>
          <a:p>
            <a:pPr marL="285750" indent="-285750">
              <a:buFont typeface="Arial" panose="020B0604020202020204" pitchFamily="34" charset="0"/>
              <a:buChar char="•"/>
            </a:pPr>
            <a:r>
              <a:rPr lang="en-US" sz="1400" dirty="0" err="1">
                <a:latin typeface="IBM Plex Sans Thin" panose="020B0203050203000203" pitchFamily="34" charset="0"/>
              </a:rPr>
              <a:t>gathering.started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gathering.completed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gathering.blocked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manufacturing.started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manufacturing.completed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manufacturing.blocked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assembly.started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assembly.completed</a:t>
            </a:r>
            <a:endParaRPr lang="en-US" sz="1400" dirty="0">
              <a:latin typeface="IBM Plex Sans Thin" panose="020B0203050203000203" pitchFamily="34" charset="0"/>
            </a:endParaRPr>
          </a:p>
          <a:p>
            <a:pPr marL="285750" indent="-285750">
              <a:buFont typeface="Arial" panose="020B0604020202020204" pitchFamily="34" charset="0"/>
              <a:buChar char="•"/>
            </a:pPr>
            <a:r>
              <a:rPr lang="en-US" sz="1400" dirty="0" err="1">
                <a:latin typeface="IBM Plex Sans Thin" panose="020B0203050203000203" pitchFamily="34" charset="0"/>
              </a:rPr>
              <a:t>assembly.blocked</a:t>
            </a:r>
            <a:endParaRPr lang="en-US" sz="1400" dirty="0">
              <a:latin typeface="IBM Plex Sans Thin" panose="020B0203050203000203" pitchFamily="34" charset="0"/>
            </a:endParaRPr>
          </a:p>
          <a:p>
            <a:endParaRPr lang="en-US" sz="1400" b="1" dirty="0">
              <a:latin typeface="IBM Plex Sans" panose="020B0503050203000203" pitchFamily="34" charset="0"/>
            </a:endParaRPr>
          </a:p>
          <a:p>
            <a:r>
              <a:rPr lang="en-US" sz="1400" b="1" dirty="0">
                <a:latin typeface="IBM Plex Sans" panose="020B0503050203000203" pitchFamily="34" charset="0"/>
              </a:rPr>
              <a:t>Step 2: Visualize Hive simulation</a:t>
            </a:r>
          </a:p>
          <a:p>
            <a:r>
              <a:rPr lang="en-US" sz="1400" dirty="0">
                <a:latin typeface="IBM Plex Sans" panose="020B0503050203000203" pitchFamily="34" charset="0"/>
              </a:rPr>
              <a:t>Attendees view their simulation’s evolving state on their personal Hive Robotics dashboard.  </a:t>
            </a:r>
          </a:p>
        </p:txBody>
      </p:sp>
      <p:sp>
        <p:nvSpPr>
          <p:cNvPr id="8" name="TextBox 7">
            <a:extLst>
              <a:ext uri="{FF2B5EF4-FFF2-40B4-BE49-F238E27FC236}">
                <a16:creationId xmlns:a16="http://schemas.microsoft.com/office/drawing/2014/main" id="{B7F56A8B-E154-DFDB-D2F1-7F5456AD7974}"/>
              </a:ext>
            </a:extLst>
          </p:cNvPr>
          <p:cNvSpPr txBox="1"/>
          <p:nvPr/>
        </p:nvSpPr>
        <p:spPr>
          <a:xfrm>
            <a:off x="225868" y="197775"/>
            <a:ext cx="7643439" cy="646331"/>
          </a:xfrm>
          <a:prstGeom prst="rect">
            <a:avLst/>
          </a:prstGeom>
          <a:noFill/>
        </p:spPr>
        <p:txBody>
          <a:bodyPr wrap="none" rtlCol="0">
            <a:spAutoFit/>
          </a:bodyPr>
          <a:lstStyle/>
          <a:p>
            <a:r>
              <a:rPr lang="en-US" b="1" dirty="0">
                <a:latin typeface="IBM Plex Sans" panose="020B0503050203000203" pitchFamily="34" charset="0"/>
              </a:rPr>
              <a:t>Workshop Level 1</a:t>
            </a:r>
            <a:endParaRPr lang="en-US" dirty="0">
              <a:solidFill>
                <a:schemeClr val="accent4"/>
              </a:solidFill>
              <a:latin typeface="IBM Plex Sans" panose="020B0503050203000203" pitchFamily="34" charset="0"/>
            </a:endParaRPr>
          </a:p>
          <a:p>
            <a:r>
              <a:rPr lang="en-US" dirty="0">
                <a:latin typeface="IBM Plex Sans" panose="020B0503050203000203" pitchFamily="34" charset="0"/>
              </a:rPr>
              <a:t>Hive simulation publishes topics to attendee’s Confluent Cloud instance</a:t>
            </a:r>
          </a:p>
        </p:txBody>
      </p:sp>
      <p:sp>
        <p:nvSpPr>
          <p:cNvPr id="10" name="TextBox 9">
            <a:extLst>
              <a:ext uri="{FF2B5EF4-FFF2-40B4-BE49-F238E27FC236}">
                <a16:creationId xmlns:a16="http://schemas.microsoft.com/office/drawing/2014/main" id="{971801CE-81F1-4DB7-F554-AE1645DDC281}"/>
              </a:ext>
            </a:extLst>
          </p:cNvPr>
          <p:cNvSpPr txBox="1"/>
          <p:nvPr/>
        </p:nvSpPr>
        <p:spPr>
          <a:xfrm>
            <a:off x="10782202" y="336274"/>
            <a:ext cx="1018227" cy="369332"/>
          </a:xfrm>
          <a:prstGeom prst="rect">
            <a:avLst/>
          </a:prstGeom>
          <a:noFill/>
        </p:spPr>
        <p:txBody>
          <a:bodyPr wrap="none" rtlCol="0">
            <a:spAutoFit/>
          </a:bodyPr>
          <a:lstStyle/>
          <a:p>
            <a:r>
              <a:rPr lang="en-US" dirty="0">
                <a:solidFill>
                  <a:schemeClr val="accent4"/>
                </a:solidFill>
                <a:latin typeface="IBM Plex Sans" panose="020B0503050203000203" pitchFamily="34" charset="0"/>
              </a:rPr>
              <a:t>30 mins</a:t>
            </a:r>
          </a:p>
        </p:txBody>
      </p:sp>
      <p:sp>
        <p:nvSpPr>
          <p:cNvPr id="2" name="Down Arrow 1">
            <a:extLst>
              <a:ext uri="{FF2B5EF4-FFF2-40B4-BE49-F238E27FC236}">
                <a16:creationId xmlns:a16="http://schemas.microsoft.com/office/drawing/2014/main" id="{54C4CFBF-634A-DEA6-CEC4-CF605D7CE745}"/>
              </a:ext>
            </a:extLst>
          </p:cNvPr>
          <p:cNvSpPr/>
          <p:nvPr/>
        </p:nvSpPr>
        <p:spPr>
          <a:xfrm rot="14400000">
            <a:off x="3861728" y="4158396"/>
            <a:ext cx="525600" cy="750518"/>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BM Plex Sans" panose="020B0503050203000203" pitchFamily="34" charset="0"/>
            </a:endParaRPr>
          </a:p>
        </p:txBody>
      </p:sp>
      <p:pic>
        <p:nvPicPr>
          <p:cNvPr id="3" name="Picture 2">
            <a:extLst>
              <a:ext uri="{FF2B5EF4-FFF2-40B4-BE49-F238E27FC236}">
                <a16:creationId xmlns:a16="http://schemas.microsoft.com/office/drawing/2014/main" id="{9D382C7A-B828-2CA9-E8FD-35AE9BAA13F5}"/>
              </a:ext>
            </a:extLst>
          </p:cNvPr>
          <p:cNvPicPr>
            <a:picLocks noChangeAspect="1"/>
          </p:cNvPicPr>
          <p:nvPr/>
        </p:nvPicPr>
        <p:blipFill>
          <a:blip r:embed="rId2"/>
          <a:stretch>
            <a:fillRect/>
          </a:stretch>
        </p:blipFill>
        <p:spPr>
          <a:xfrm>
            <a:off x="4720136" y="1199378"/>
            <a:ext cx="7339928" cy="3460736"/>
          </a:xfrm>
          <a:prstGeom prst="rect">
            <a:avLst/>
          </a:prstGeom>
          <a:ln>
            <a:solidFill>
              <a:schemeClr val="bg1">
                <a:lumMod val="75000"/>
              </a:schemeClr>
            </a:solidFill>
          </a:ln>
        </p:spPr>
      </p:pic>
    </p:spTree>
    <p:extLst>
      <p:ext uri="{BB962C8B-B14F-4D97-AF65-F5344CB8AC3E}">
        <p14:creationId xmlns:p14="http://schemas.microsoft.com/office/powerpoint/2010/main" val="3524234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F7391E-6CD7-2E84-6BD9-1890F7D67C30}"/>
              </a:ext>
            </a:extLst>
          </p:cNvPr>
          <p:cNvSpPr txBox="1"/>
          <p:nvPr/>
        </p:nvSpPr>
        <p:spPr>
          <a:xfrm>
            <a:off x="181036" y="1257500"/>
            <a:ext cx="7318990" cy="2462213"/>
          </a:xfrm>
          <a:prstGeom prst="rect">
            <a:avLst/>
          </a:prstGeom>
          <a:noFill/>
        </p:spPr>
        <p:txBody>
          <a:bodyPr wrap="square" rtlCol="0">
            <a:spAutoFit/>
          </a:bodyPr>
          <a:lstStyle/>
          <a:p>
            <a:r>
              <a:rPr lang="en-US" sz="1400" b="1" dirty="0">
                <a:latin typeface="IBM Plex Sans" panose="020B0503050203000203" pitchFamily="34" charset="0"/>
              </a:rPr>
              <a:t>Real-time insights require windowed calculations over the event stream</a:t>
            </a:r>
          </a:p>
          <a:p>
            <a:r>
              <a:rPr lang="en-US" sz="1400" dirty="0">
                <a:latin typeface="IBM Plex Sans" panose="020B0503050203000203" pitchFamily="34" charset="0"/>
              </a:rPr>
              <a:t>Attendees use Flink to calculate system performance and identify bottlenecks in resources and parts availability.</a:t>
            </a:r>
          </a:p>
          <a:p>
            <a:endParaRPr lang="en-US" sz="1400" dirty="0">
              <a:latin typeface="IBM Plex Sans" panose="020B0503050203000203" pitchFamily="34" charset="0"/>
            </a:endParaRPr>
          </a:p>
          <a:p>
            <a:r>
              <a:rPr lang="en-US" sz="1400" dirty="0">
                <a:latin typeface="IBM Plex Sans" panose="020B0503050203000203" pitchFamily="34" charset="0"/>
              </a:rPr>
              <a:t>Steps followed by attendees:</a:t>
            </a:r>
          </a:p>
          <a:p>
            <a:pPr marL="342900" indent="-342900">
              <a:buFont typeface="+mj-lt"/>
              <a:buAutoNum type="arabicPeriod"/>
            </a:pPr>
            <a:r>
              <a:rPr lang="en-US" sz="1400" dirty="0">
                <a:latin typeface="IBM Plex Sans" panose="020B0503050203000203" pitchFamily="34" charset="0"/>
              </a:rPr>
              <a:t>Provision Flink using Confluent Cloud UI</a:t>
            </a:r>
          </a:p>
          <a:p>
            <a:pPr marL="342900" indent="-342900">
              <a:buFont typeface="+mj-lt"/>
              <a:buAutoNum type="arabicPeriod"/>
            </a:pPr>
            <a:r>
              <a:rPr lang="en-US" sz="1400" dirty="0">
                <a:latin typeface="IBM Plex Sans" panose="020B0503050203000203" pitchFamily="34" charset="0"/>
              </a:rPr>
              <a:t>Calculate performance metrics from Simulation event stream</a:t>
            </a:r>
          </a:p>
          <a:p>
            <a:pPr marL="342900" indent="-342900">
              <a:buFont typeface="+mj-lt"/>
              <a:buAutoNum type="arabicPeriod"/>
            </a:pPr>
            <a:r>
              <a:rPr lang="en-US" sz="1400" dirty="0">
                <a:latin typeface="IBM Plex Sans" panose="020B0503050203000203" pitchFamily="34" charset="0"/>
              </a:rPr>
              <a:t>Count resources and parts available for downstream manufacturing systems</a:t>
            </a:r>
          </a:p>
          <a:p>
            <a:pPr marL="342900" indent="-342900">
              <a:buFont typeface="+mj-lt"/>
              <a:buAutoNum type="arabicPeriod"/>
            </a:pPr>
            <a:r>
              <a:rPr lang="en-US" sz="1400" dirty="0">
                <a:latin typeface="IBM Plex Sans" panose="020B0503050203000203" pitchFamily="34" charset="0"/>
              </a:rPr>
              <a:t>Filter and join event streams</a:t>
            </a:r>
          </a:p>
          <a:p>
            <a:pPr marL="342900" indent="-342900">
              <a:buFont typeface="+mj-lt"/>
              <a:buAutoNum type="arabicPeriod"/>
            </a:pPr>
            <a:r>
              <a:rPr lang="en-US" sz="1400" dirty="0">
                <a:latin typeface="IBM Plex Sans" panose="020B0503050203000203" pitchFamily="34" charset="0"/>
              </a:rPr>
              <a:t>Identify bottlenecks</a:t>
            </a:r>
          </a:p>
          <a:p>
            <a:pPr marL="342900" indent="-342900">
              <a:buFont typeface="+mj-lt"/>
              <a:buAutoNum type="arabicPeriod"/>
            </a:pPr>
            <a:r>
              <a:rPr lang="en-US" sz="1400" dirty="0">
                <a:latin typeface="IBM Plex Sans" panose="020B0503050203000203" pitchFamily="34" charset="0"/>
              </a:rPr>
              <a:t>Request analysis by agentic harness</a:t>
            </a:r>
          </a:p>
        </p:txBody>
      </p:sp>
      <p:sp>
        <p:nvSpPr>
          <p:cNvPr id="8" name="TextBox 7">
            <a:extLst>
              <a:ext uri="{FF2B5EF4-FFF2-40B4-BE49-F238E27FC236}">
                <a16:creationId xmlns:a16="http://schemas.microsoft.com/office/drawing/2014/main" id="{8BFCA8B1-4066-AD11-DA42-AFA4989A5E25}"/>
              </a:ext>
            </a:extLst>
          </p:cNvPr>
          <p:cNvSpPr txBox="1"/>
          <p:nvPr/>
        </p:nvSpPr>
        <p:spPr>
          <a:xfrm>
            <a:off x="181036" y="375007"/>
            <a:ext cx="7173759" cy="646331"/>
          </a:xfrm>
          <a:prstGeom prst="rect">
            <a:avLst/>
          </a:prstGeom>
          <a:noFill/>
        </p:spPr>
        <p:txBody>
          <a:bodyPr wrap="none" rtlCol="0">
            <a:spAutoFit/>
          </a:bodyPr>
          <a:lstStyle/>
          <a:p>
            <a:r>
              <a:rPr lang="en-US" b="1" dirty="0">
                <a:latin typeface="IBM Plex Sans" panose="020B0503050203000203" pitchFamily="34" charset="0"/>
              </a:rPr>
              <a:t>Workshop Level 2</a:t>
            </a:r>
            <a:endParaRPr lang="en-US" dirty="0">
              <a:solidFill>
                <a:schemeClr val="accent4"/>
              </a:solidFill>
              <a:latin typeface="IBM Plex Sans" panose="020B0503050203000203" pitchFamily="34" charset="0"/>
            </a:endParaRPr>
          </a:p>
          <a:p>
            <a:r>
              <a:rPr lang="en-US" dirty="0">
                <a:latin typeface="IBM Plex Sans" panose="020B0503050203000203" pitchFamily="34" charset="0"/>
              </a:rPr>
              <a:t>Flink configured to extract real-time insights from Simulation topics</a:t>
            </a:r>
          </a:p>
        </p:txBody>
      </p:sp>
      <p:sp>
        <p:nvSpPr>
          <p:cNvPr id="10" name="TextBox 9">
            <a:extLst>
              <a:ext uri="{FF2B5EF4-FFF2-40B4-BE49-F238E27FC236}">
                <a16:creationId xmlns:a16="http://schemas.microsoft.com/office/drawing/2014/main" id="{3E7FE5E9-4000-8CBA-0DB4-6D588C78B648}"/>
              </a:ext>
            </a:extLst>
          </p:cNvPr>
          <p:cNvSpPr txBox="1"/>
          <p:nvPr/>
        </p:nvSpPr>
        <p:spPr>
          <a:xfrm>
            <a:off x="10762747" y="414257"/>
            <a:ext cx="1018227" cy="369332"/>
          </a:xfrm>
          <a:prstGeom prst="rect">
            <a:avLst/>
          </a:prstGeom>
          <a:noFill/>
        </p:spPr>
        <p:txBody>
          <a:bodyPr wrap="none" rtlCol="0">
            <a:spAutoFit/>
          </a:bodyPr>
          <a:lstStyle/>
          <a:p>
            <a:r>
              <a:rPr lang="en-US" dirty="0">
                <a:solidFill>
                  <a:schemeClr val="accent4"/>
                </a:solidFill>
                <a:latin typeface="IBM Plex Sans" panose="020B0503050203000203" pitchFamily="34" charset="0"/>
              </a:rPr>
              <a:t>30 mins</a:t>
            </a:r>
          </a:p>
        </p:txBody>
      </p:sp>
    </p:spTree>
    <p:extLst>
      <p:ext uri="{BB962C8B-B14F-4D97-AF65-F5344CB8AC3E}">
        <p14:creationId xmlns:p14="http://schemas.microsoft.com/office/powerpoint/2010/main" val="2880784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8B099-CEF3-E296-E483-624D21B22E5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71BC159-ED33-DDF5-E307-6C4B4A6ADAF3}"/>
              </a:ext>
            </a:extLst>
          </p:cNvPr>
          <p:cNvSpPr txBox="1"/>
          <p:nvPr/>
        </p:nvSpPr>
        <p:spPr>
          <a:xfrm>
            <a:off x="181036" y="375007"/>
            <a:ext cx="3873176" cy="646331"/>
          </a:xfrm>
          <a:prstGeom prst="rect">
            <a:avLst/>
          </a:prstGeom>
          <a:noFill/>
        </p:spPr>
        <p:txBody>
          <a:bodyPr wrap="none" rtlCol="0">
            <a:spAutoFit/>
          </a:bodyPr>
          <a:lstStyle/>
          <a:p>
            <a:r>
              <a:rPr lang="en-US" b="1" dirty="0">
                <a:latin typeface="IBM Plex Sans" panose="020B0503050203000203" pitchFamily="34" charset="0"/>
              </a:rPr>
              <a:t>Workshop Level 3</a:t>
            </a:r>
            <a:endParaRPr lang="en-US" dirty="0">
              <a:solidFill>
                <a:schemeClr val="accent4"/>
              </a:solidFill>
              <a:latin typeface="IBM Plex Sans" panose="020B0503050203000203" pitchFamily="34" charset="0"/>
            </a:endParaRPr>
          </a:p>
          <a:p>
            <a:r>
              <a:rPr lang="en-US" dirty="0">
                <a:latin typeface="IBM Plex Sans" panose="020B0503050203000203" pitchFamily="34" charset="0"/>
              </a:rPr>
              <a:t>Stream enhanced Topics to Iceberg</a:t>
            </a:r>
          </a:p>
        </p:txBody>
      </p:sp>
      <p:sp>
        <p:nvSpPr>
          <p:cNvPr id="10" name="TextBox 9">
            <a:extLst>
              <a:ext uri="{FF2B5EF4-FFF2-40B4-BE49-F238E27FC236}">
                <a16:creationId xmlns:a16="http://schemas.microsoft.com/office/drawing/2014/main" id="{E3856700-6412-65C2-6662-BEC5C6005602}"/>
              </a:ext>
            </a:extLst>
          </p:cNvPr>
          <p:cNvSpPr txBox="1"/>
          <p:nvPr/>
        </p:nvSpPr>
        <p:spPr>
          <a:xfrm>
            <a:off x="10915065" y="375007"/>
            <a:ext cx="1018227" cy="369332"/>
          </a:xfrm>
          <a:prstGeom prst="rect">
            <a:avLst/>
          </a:prstGeom>
          <a:noFill/>
        </p:spPr>
        <p:txBody>
          <a:bodyPr wrap="none" rtlCol="0">
            <a:spAutoFit/>
          </a:bodyPr>
          <a:lstStyle/>
          <a:p>
            <a:r>
              <a:rPr lang="en-US" dirty="0">
                <a:solidFill>
                  <a:schemeClr val="accent4"/>
                </a:solidFill>
                <a:latin typeface="IBM Plex Sans" panose="020B0503050203000203" pitchFamily="34" charset="0"/>
              </a:rPr>
              <a:t>30 mins</a:t>
            </a:r>
          </a:p>
        </p:txBody>
      </p:sp>
      <p:pic>
        <p:nvPicPr>
          <p:cNvPr id="2" name="Picture 1">
            <a:extLst>
              <a:ext uri="{FF2B5EF4-FFF2-40B4-BE49-F238E27FC236}">
                <a16:creationId xmlns:a16="http://schemas.microsoft.com/office/drawing/2014/main" id="{E06E67E9-53A6-EA94-5FFD-0FBA4D286A48}"/>
              </a:ext>
            </a:extLst>
          </p:cNvPr>
          <p:cNvPicPr>
            <a:picLocks noChangeAspect="1"/>
          </p:cNvPicPr>
          <p:nvPr/>
        </p:nvPicPr>
        <p:blipFill>
          <a:blip r:embed="rId2"/>
          <a:stretch>
            <a:fillRect/>
          </a:stretch>
        </p:blipFill>
        <p:spPr>
          <a:xfrm>
            <a:off x="4054212" y="1250299"/>
            <a:ext cx="7772400" cy="4357401"/>
          </a:xfrm>
          <a:prstGeom prst="rect">
            <a:avLst/>
          </a:prstGeom>
        </p:spPr>
      </p:pic>
    </p:spTree>
    <p:extLst>
      <p:ext uri="{BB962C8B-B14F-4D97-AF65-F5344CB8AC3E}">
        <p14:creationId xmlns:p14="http://schemas.microsoft.com/office/powerpoint/2010/main" val="4214647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0B071-CCF8-3607-408E-A6F688DEF66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CC2C07C-6A9F-E762-C155-8F367A5F5B37}"/>
              </a:ext>
            </a:extLst>
          </p:cNvPr>
          <p:cNvSpPr txBox="1"/>
          <p:nvPr/>
        </p:nvSpPr>
        <p:spPr>
          <a:xfrm>
            <a:off x="181036" y="375007"/>
            <a:ext cx="8419292" cy="646331"/>
          </a:xfrm>
          <a:prstGeom prst="rect">
            <a:avLst/>
          </a:prstGeom>
          <a:noFill/>
        </p:spPr>
        <p:txBody>
          <a:bodyPr wrap="none" rtlCol="0">
            <a:spAutoFit/>
          </a:bodyPr>
          <a:lstStyle/>
          <a:p>
            <a:r>
              <a:rPr lang="en-US" b="1" dirty="0">
                <a:latin typeface="IBM Plex Sans" panose="020B0503050203000203" pitchFamily="34" charset="0"/>
              </a:rPr>
              <a:t>Workshop Level 4</a:t>
            </a:r>
            <a:endParaRPr lang="en-US" dirty="0">
              <a:solidFill>
                <a:schemeClr val="accent4"/>
              </a:solidFill>
              <a:latin typeface="IBM Plex Sans" panose="020B0503050203000203" pitchFamily="34" charset="0"/>
            </a:endParaRPr>
          </a:p>
          <a:p>
            <a:r>
              <a:rPr lang="en-US" dirty="0">
                <a:latin typeface="IBM Plex Sans" panose="020B0503050203000203" pitchFamily="34" charset="0"/>
              </a:rPr>
              <a:t>Deploy containerized headless IBM Bob/Google harnesses to Google Cloud Run</a:t>
            </a:r>
          </a:p>
        </p:txBody>
      </p:sp>
      <p:sp>
        <p:nvSpPr>
          <p:cNvPr id="10" name="TextBox 9">
            <a:extLst>
              <a:ext uri="{FF2B5EF4-FFF2-40B4-BE49-F238E27FC236}">
                <a16:creationId xmlns:a16="http://schemas.microsoft.com/office/drawing/2014/main" id="{BF03A5BC-BE48-412A-3F65-8C30B084FC13}"/>
              </a:ext>
            </a:extLst>
          </p:cNvPr>
          <p:cNvSpPr txBox="1"/>
          <p:nvPr/>
        </p:nvSpPr>
        <p:spPr>
          <a:xfrm>
            <a:off x="10915065" y="375007"/>
            <a:ext cx="1018227" cy="369332"/>
          </a:xfrm>
          <a:prstGeom prst="rect">
            <a:avLst/>
          </a:prstGeom>
          <a:noFill/>
        </p:spPr>
        <p:txBody>
          <a:bodyPr wrap="none" rtlCol="0">
            <a:spAutoFit/>
          </a:bodyPr>
          <a:lstStyle/>
          <a:p>
            <a:r>
              <a:rPr lang="en-US" dirty="0">
                <a:solidFill>
                  <a:schemeClr val="accent4"/>
                </a:solidFill>
                <a:latin typeface="IBM Plex Sans" panose="020B0503050203000203" pitchFamily="34" charset="0"/>
              </a:rPr>
              <a:t>30 mins</a:t>
            </a:r>
          </a:p>
        </p:txBody>
      </p:sp>
      <p:sp>
        <p:nvSpPr>
          <p:cNvPr id="2" name="TextBox 1">
            <a:extLst>
              <a:ext uri="{FF2B5EF4-FFF2-40B4-BE49-F238E27FC236}">
                <a16:creationId xmlns:a16="http://schemas.microsoft.com/office/drawing/2014/main" id="{6758E05A-3B1A-7E69-BA0C-981CEDD8064F}"/>
              </a:ext>
            </a:extLst>
          </p:cNvPr>
          <p:cNvSpPr txBox="1"/>
          <p:nvPr/>
        </p:nvSpPr>
        <p:spPr>
          <a:xfrm>
            <a:off x="234736" y="1205444"/>
            <a:ext cx="5861264" cy="738664"/>
          </a:xfrm>
          <a:prstGeom prst="rect">
            <a:avLst/>
          </a:prstGeom>
          <a:noFill/>
        </p:spPr>
        <p:txBody>
          <a:bodyPr wrap="square" rtlCol="0">
            <a:spAutoFit/>
          </a:bodyPr>
          <a:lstStyle/>
          <a:p>
            <a:r>
              <a:rPr lang="en-US" sz="1400" b="1" dirty="0">
                <a:latin typeface="IBM Plex Sans" panose="020B0503050203000203" pitchFamily="34" charset="0"/>
              </a:rPr>
              <a:t>Deploy to IBM Bob to Google Cloud Run using IBM Bob</a:t>
            </a:r>
          </a:p>
          <a:p>
            <a:r>
              <a:rPr lang="en-US" sz="1400" dirty="0">
                <a:latin typeface="IBM Plex Sans" panose="020B0503050203000203" pitchFamily="34" charset="0"/>
              </a:rPr>
              <a:t>Attendees install IBM Bob and use the provided Google Cloud Run skill to clone and deploy their chosen agentic harness.</a:t>
            </a:r>
          </a:p>
        </p:txBody>
      </p:sp>
    </p:spTree>
    <p:extLst>
      <p:ext uri="{BB962C8B-B14F-4D97-AF65-F5344CB8AC3E}">
        <p14:creationId xmlns:p14="http://schemas.microsoft.com/office/powerpoint/2010/main" val="2366966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26B7-EFEB-59A6-AA40-D4CEF72B299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4A252C4-DABD-F7E5-5BBB-A87E4327B62D}"/>
              </a:ext>
            </a:extLst>
          </p:cNvPr>
          <p:cNvSpPr txBox="1"/>
          <p:nvPr/>
        </p:nvSpPr>
        <p:spPr>
          <a:xfrm>
            <a:off x="181036" y="375007"/>
            <a:ext cx="5384807" cy="646331"/>
          </a:xfrm>
          <a:prstGeom prst="rect">
            <a:avLst/>
          </a:prstGeom>
          <a:noFill/>
        </p:spPr>
        <p:txBody>
          <a:bodyPr wrap="none" rtlCol="0">
            <a:spAutoFit/>
          </a:bodyPr>
          <a:lstStyle/>
          <a:p>
            <a:r>
              <a:rPr lang="en-US" b="1" dirty="0">
                <a:latin typeface="IBM Plex Sans" panose="020B0503050203000203" pitchFamily="34" charset="0"/>
              </a:rPr>
              <a:t>Workshop Level 5 (Final )</a:t>
            </a:r>
            <a:endParaRPr lang="en-US" dirty="0">
              <a:solidFill>
                <a:schemeClr val="accent4"/>
              </a:solidFill>
              <a:latin typeface="IBM Plex Sans" panose="020B0503050203000203" pitchFamily="34" charset="0"/>
            </a:endParaRPr>
          </a:p>
          <a:p>
            <a:r>
              <a:rPr lang="en-US" dirty="0">
                <a:latin typeface="IBM Plex Sans" panose="020B0503050203000203" pitchFamily="34" charset="0"/>
              </a:rPr>
              <a:t>Optimize Hive simulation using an agentic harness</a:t>
            </a:r>
          </a:p>
        </p:txBody>
      </p:sp>
      <p:sp>
        <p:nvSpPr>
          <p:cNvPr id="10" name="TextBox 9">
            <a:extLst>
              <a:ext uri="{FF2B5EF4-FFF2-40B4-BE49-F238E27FC236}">
                <a16:creationId xmlns:a16="http://schemas.microsoft.com/office/drawing/2014/main" id="{CB4F8107-8A87-1DD8-3065-D404F07D0854}"/>
              </a:ext>
            </a:extLst>
          </p:cNvPr>
          <p:cNvSpPr txBox="1"/>
          <p:nvPr/>
        </p:nvSpPr>
        <p:spPr>
          <a:xfrm>
            <a:off x="10915065" y="375007"/>
            <a:ext cx="1018227" cy="369332"/>
          </a:xfrm>
          <a:prstGeom prst="rect">
            <a:avLst/>
          </a:prstGeom>
          <a:noFill/>
        </p:spPr>
        <p:txBody>
          <a:bodyPr wrap="none" rtlCol="0">
            <a:spAutoFit/>
          </a:bodyPr>
          <a:lstStyle/>
          <a:p>
            <a:r>
              <a:rPr lang="en-US" dirty="0">
                <a:solidFill>
                  <a:schemeClr val="accent4"/>
                </a:solidFill>
                <a:latin typeface="IBM Plex Sans" panose="020B0503050203000203" pitchFamily="34" charset="0"/>
              </a:rPr>
              <a:t>30 mins</a:t>
            </a:r>
          </a:p>
        </p:txBody>
      </p:sp>
      <p:sp>
        <p:nvSpPr>
          <p:cNvPr id="2" name="TextBox 1">
            <a:extLst>
              <a:ext uri="{FF2B5EF4-FFF2-40B4-BE49-F238E27FC236}">
                <a16:creationId xmlns:a16="http://schemas.microsoft.com/office/drawing/2014/main" id="{5425B54F-6853-5AB9-7549-83E9CAC8DAE6}"/>
              </a:ext>
            </a:extLst>
          </p:cNvPr>
          <p:cNvSpPr txBox="1"/>
          <p:nvPr/>
        </p:nvSpPr>
        <p:spPr>
          <a:xfrm>
            <a:off x="234736" y="1205444"/>
            <a:ext cx="5861264" cy="2462213"/>
          </a:xfrm>
          <a:prstGeom prst="rect">
            <a:avLst/>
          </a:prstGeom>
          <a:noFill/>
        </p:spPr>
        <p:txBody>
          <a:bodyPr wrap="square" rtlCol="0">
            <a:spAutoFit/>
          </a:bodyPr>
          <a:lstStyle/>
          <a:p>
            <a:r>
              <a:rPr lang="en-US" sz="1400" b="1" dirty="0">
                <a:latin typeface="IBM Plex Sans" panose="020B0503050203000203" pitchFamily="34" charset="0"/>
              </a:rPr>
              <a:t>Autonomous Hive Factory Optimization</a:t>
            </a:r>
          </a:p>
          <a:p>
            <a:r>
              <a:rPr lang="en-US" sz="1400" dirty="0">
                <a:latin typeface="IBM Plex Sans" panose="020B0503050203000203" pitchFamily="34" charset="0"/>
              </a:rPr>
              <a:t>Headless agentic harnesses are tasked to increase production of the robotics manufacturing factory. MCP Tools are provided so the harnesses to interact with an attendee’s Hive simulation:</a:t>
            </a:r>
          </a:p>
          <a:p>
            <a:endParaRPr lang="en-US" sz="1400" dirty="0">
              <a:latin typeface="IBM Plex Sans" panose="020B0503050203000203" pitchFamily="34" charset="0"/>
            </a:endParaRPr>
          </a:p>
          <a:p>
            <a:r>
              <a:rPr lang="en-US" sz="1400" dirty="0">
                <a:latin typeface="IBM Plex Sans" panose="020B0503050203000203" pitchFamily="34" charset="0"/>
              </a:rPr>
              <a:t>MCP Tools</a:t>
            </a:r>
          </a:p>
          <a:p>
            <a:pPr marL="285750" indent="-285750">
              <a:buFont typeface="Arial" panose="020B0604020202020204" pitchFamily="34" charset="0"/>
              <a:buChar char="•"/>
            </a:pPr>
            <a:r>
              <a:rPr lang="en-US" sz="1400" dirty="0">
                <a:latin typeface="IBM Plex Sans ExtLt" panose="020B0303050203000203" pitchFamily="34" charset="0"/>
              </a:rPr>
              <a:t>Analysis factory behavior stored in </a:t>
            </a:r>
            <a:r>
              <a:rPr lang="en-US" sz="1400" dirty="0" err="1">
                <a:latin typeface="IBM Plex Sans ExtLt" panose="020B0303050203000203" pitchFamily="34" charset="0"/>
              </a:rPr>
              <a:t>Tableflow’s</a:t>
            </a:r>
            <a:r>
              <a:rPr lang="en-US" sz="1400" dirty="0">
                <a:latin typeface="IBM Plex Sans ExtLt" panose="020B0303050203000203" pitchFamily="34" charset="0"/>
              </a:rPr>
              <a:t> Iceberg tables</a:t>
            </a:r>
          </a:p>
          <a:p>
            <a:pPr marL="285750" indent="-285750">
              <a:buFont typeface="Arial" panose="020B0604020202020204" pitchFamily="34" charset="0"/>
              <a:buChar char="•"/>
            </a:pPr>
            <a:r>
              <a:rPr lang="en-US" sz="1400" dirty="0">
                <a:latin typeface="IBM Plex Sans ExtLt" panose="020B0303050203000203" pitchFamily="34" charset="0"/>
              </a:rPr>
              <a:t>Assign robots to increase manufacturing productivity</a:t>
            </a:r>
          </a:p>
          <a:p>
            <a:pPr marL="285750" indent="-285750">
              <a:buFont typeface="Arial" panose="020B0604020202020204" pitchFamily="34" charset="0"/>
              <a:buChar char="•"/>
            </a:pPr>
            <a:r>
              <a:rPr lang="en-US" sz="1400" dirty="0">
                <a:latin typeface="IBM Plex Sans ExtLt" panose="020B0303050203000203" pitchFamily="34" charset="0"/>
              </a:rPr>
              <a:t>Sell robots for Hive currency</a:t>
            </a:r>
          </a:p>
          <a:p>
            <a:pPr marL="285750" indent="-285750">
              <a:buFont typeface="Arial" panose="020B0604020202020204" pitchFamily="34" charset="0"/>
              <a:buChar char="•"/>
            </a:pPr>
            <a:r>
              <a:rPr lang="en-US" sz="1400" dirty="0">
                <a:latin typeface="IBM Plex Sans ExtLt" panose="020B0303050203000203" pitchFamily="34" charset="0"/>
              </a:rPr>
              <a:t>Use Hive currency to upgrade manufacturing workstations</a:t>
            </a:r>
          </a:p>
          <a:p>
            <a:endParaRPr lang="en-US" sz="1400" dirty="0">
              <a:latin typeface="IBM Plex Sans ExtLt" panose="020B0303050203000203" pitchFamily="34" charset="0"/>
            </a:endParaRPr>
          </a:p>
        </p:txBody>
      </p:sp>
    </p:spTree>
    <p:extLst>
      <p:ext uri="{BB962C8B-B14F-4D97-AF65-F5344CB8AC3E}">
        <p14:creationId xmlns:p14="http://schemas.microsoft.com/office/powerpoint/2010/main" val="2144718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ccbcf41-e26a-4a6a-ac36-46ff7c614a4e">
      <Terms xmlns="http://schemas.microsoft.com/office/infopath/2007/PartnerControls"/>
    </lcf76f155ced4ddcb4097134ff3c332f>
    <TaxCatchAll xmlns="b477d486-dccb-4160-963d-4df5316e61b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87BCE40F65B445847CCB39129D8836" ma:contentTypeVersion="13" ma:contentTypeDescription="Create a new document." ma:contentTypeScope="" ma:versionID="e8bc5dff70a77e9fcf494adbbe992740">
  <xsd:schema xmlns:xsd="http://www.w3.org/2001/XMLSchema" xmlns:xs="http://www.w3.org/2001/XMLSchema" xmlns:p="http://schemas.microsoft.com/office/2006/metadata/properties" xmlns:ns2="6ccbcf41-e26a-4a6a-ac36-46ff7c614a4e" xmlns:ns3="b477d486-dccb-4160-963d-4df5316e61b2" targetNamespace="http://schemas.microsoft.com/office/2006/metadata/properties" ma:root="true" ma:fieldsID="05f3d7b1c9414638bfe4c8da580941a8" ns2:_="" ns3:_="">
    <xsd:import namespace="6ccbcf41-e26a-4a6a-ac36-46ff7c614a4e"/>
    <xsd:import namespace="b477d486-dccb-4160-963d-4df5316e61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cbcf41-e26a-4a6a-ac36-46ff7c614a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19edae7-b79a-4a5e-b725-af92424e056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77d486-dccb-4160-963d-4df5316e61b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ba1464-ba1b-428f-814e-5aa347e66900}" ma:internalName="TaxCatchAll" ma:showField="CatchAllData" ma:web="b477d486-dccb-4160-963d-4df5316e61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B0C0E-41D9-4CE2-9FDC-7B6EBBD320D0}">
  <ds:schemaRefs>
    <ds:schemaRef ds:uri="6ccbcf41-e26a-4a6a-ac36-46ff7c614a4e"/>
    <ds:schemaRef ds:uri="b477d486-dccb-4160-963d-4df5316e61b2"/>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141098E-D7DF-4679-9E61-93B013292E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cbcf41-e26a-4a6a-ac36-46ff7c614a4e"/>
    <ds:schemaRef ds:uri="b477d486-dccb-4160-963d-4df5316e61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46A05C-0F31-4D48-BE54-A369D9F285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139918</TotalTime>
  <Words>372</Words>
  <Application>Microsoft Macintosh PowerPoint</Application>
  <PresentationFormat>Widescreen</PresentationFormat>
  <Paragraphs>59</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Helvetica Neue UltraLight</vt:lpstr>
      <vt:lpstr>IBM Plex Sans</vt:lpstr>
      <vt:lpstr>IBM Plex Sans ExtLt</vt:lpstr>
      <vt:lpstr>IBM Plex Sans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ANTHONY STEVENS</dc:creator>
  <cp:lastModifiedBy>ANTHONY STEVENS</cp:lastModifiedBy>
  <cp:revision>203</cp:revision>
  <dcterms:created xsi:type="dcterms:W3CDTF">2026-04-27T15:14:14Z</dcterms:created>
  <dcterms:modified xsi:type="dcterms:W3CDTF">2026-10-21T17:32:15Z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0x0101008C87BCE40F65B445847CCB39129D8836</vt:lpwstr>
  </property>
  <property fmtid="{D5CDD505-2E9C-101B-9397-08002B2CF9AE}" pid="3" name="MediaServiceImageTags">
    <vt:lpwstr/>
  </property>
</Properties>
</file>